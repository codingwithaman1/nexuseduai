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pic>
        <p:nvPicPr>
          <p:cNvPr id="3" name="Picture 2" descr="gl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670" y="1005840"/>
            <a:ext cx="2377440" cy="16642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  <a:latin typeface="Arial"/>
              </a:defRPr>
            </a:pPr>
            <a:r>
              <a:t>NEXUSEDU AI</a:t>
            </a:r>
          </a:p>
          <a:p>
            <a:pPr algn="ctr">
              <a:defRPr sz="1500">
                <a:solidFill>
                  <a:srgbClr val="FFFFFF"/>
                </a:solidFill>
                <a:latin typeface="Arial"/>
              </a:defRPr>
            </a:pPr>
            <a:r>
              <a:t>Full-Stack Student &amp; Campus Intelligence Platform with Unified Dev Matrix &amp; AI Placement Diagnostics</a:t>
            </a:r>
          </a:p>
          <a:p>
            <a:pPr algn="ctr">
              <a:defRPr sz="1300" b="1">
                <a:solidFill>
                  <a:srgbClr val="D4AF37"/>
                </a:solidFill>
                <a:latin typeface="Arial"/>
              </a:defRPr>
            </a:pPr>
            <a:r>
              <a:t>MINI PROJECT  |  SESSION 2026-2027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97680"/>
            <a:ext cx="10728655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  <a:latin typeface="Arial"/>
              </a:defRPr>
            </a:pPr>
            <a:r>
              <a:t>PRESENTED BY: TEAM NO. 12</a:t>
            </a:r>
          </a:p>
          <a:p>
            <a:pPr>
              <a:defRPr sz="1100">
                <a:solidFill>
                  <a:srgbClr val="FFFFFF"/>
                </a:solidFill>
                <a:latin typeface="Arial"/>
              </a:defRPr>
            </a:pPr>
            <a:r>
              <a:t>Student Names: Aman Sharma (Lead), Shruti Sharma, Alex Rivera, Sarah Vance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Roll Numbers: 2201920100042, 2201920100085, 2201920100012, 2201920100099</a:t>
            </a:r>
          </a:p>
          <a:p>
            <a:pPr>
              <a:defRPr sz="1100">
                <a:solidFill>
                  <a:srgbClr val="FFFFFF"/>
                </a:solidFill>
                <a:latin typeface="Arial"/>
              </a:defRPr>
            </a:pPr>
            <a:r>
              <a:t>Branch &amp; Section: Computer Science &amp; Engineering (Section A)  |  Year: 2nd Year (B.Tech)</a:t>
            </a:r>
          </a:p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UNDER SUPERVISION OF: Dr. Sarah Vance, Associate Professor, Department of CSE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2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NAVIGATION ROADMAP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PROJECT PRESENTATION OUTLINE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  Introduction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Domain background, real-world problem statement &amp; project motivation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42032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  Objectives &amp; Scope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Concrete action goals, core deliverables &amp; technical scope limits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46704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  Existing vs Proposed System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Critical comparison with traditional LMS and literature gaps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51376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  Technology Stack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Frontend, Flask 3.1 Python backend, SQLite3 &amp; Gemini AI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956048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  Resource Requirements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Hardware specifications &amp; software tools version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760720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  System Design &amp; Architecture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3-Tier system topology, data flow (DFD) &amp; relational schema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  Methodology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14-Week Agile iterative lifecycle &amp; sprint milestones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542032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  Modules &amp; Features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6 Core modules: Auth, Dual Matrix, AI Hub, Shop, Faculty &amp; Notices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346704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09  Implementation &amp; Results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Live UI showcases, 90-day sync metrics &amp; verified demo proofs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151376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10  Testing &amp; Validation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Unit, functional, security, session bypass &amp; cross-browser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956048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11  Conclusion &amp; Future Scope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Key learning outcomes, deliverables achieved &amp; future cloud roadmap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760720"/>
            <a:ext cx="5212080" cy="731520"/>
          </a:xfrm>
          <a:prstGeom prst="roundRect">
            <a:avLst/>
          </a:prstGeom>
          <a:solidFill>
            <a:srgbClr val="1A2438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12  References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Academic papers, official documentation &amp; RFC citations (APA Style)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3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01 INTRODUCTION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INTRODUCTION: DOMAIN, PROBLEM &amp; MOTIVATION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28655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1. Domain &amp; Background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Full-Stack Web Engineering &amp; Developer Analytics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Focuses on building modern, responsive, high-performance web applications integrated with relational databases and machine learning/AI APIs.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In today's software recruitment ecosystem, campus placements demand multi-dimensional technical excellence: strong DSA problem-solving and clean Git version control.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Educational institutions face significant challenges tracking these decentralized activities without a unified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10728655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00000"/>
                </a:solidFill>
                <a:latin typeface="Arial"/>
              </a:defRPr>
            </a:pPr>
            <a:r>
              <a:t>2. Real-World Problem Statement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Fragmented Developer Profiles &amp; Manual Academic Overheads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Students practice coding across disconnected platforms (LeetCode, GitHub, College LMS), leading to fragmented progress and lack of holistic visibility.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Faculty members endure high grading burdens, manually reviewing code archives and tracking assignments on spreadsheets without standardized rubrics.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Lack of continuous feedback leads to student burnout and late-stage realization of industry skill gaps.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728655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4AF37"/>
                </a:solidFill>
                <a:latin typeface="Arial"/>
              </a:defRPr>
            </a:pPr>
            <a:r>
              <a:t>3. Motivation &amp; Proposed Impact</a:t>
            </a:r>
          </a:p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Bridging the Academia-Industry Skill Gap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NexusEdu AI bridges this chasm by delivering a single-pane-of-glass dashboard uniting college academics with live external developer metrics.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Combines real-time algorithmic telemetry with a gamified ByteCoin virtual economy to sustain daily coding streaks.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• Equips faculty with AI-assisted coursework drafting and automated rubric evaluation, modernizing college governance.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4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02 OBJECTIVES &amp; SCOPE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PROJECT OBJECTIVES &amp; FUNCTIONAL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303520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  <a:latin typeface="Arial"/>
              </a:defRPr>
            </a:pPr>
            <a:r>
              <a:t>CORE PROJECT OBJECTIVES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• To design and deploy a unified 90-day activity matrix synchronizing LeetCode DSA solves and GitHub repository commits day-by-day.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• To develop a multimodal AI Placement Readiness diagnostic engine calculating dynamic composite scores (0-100%) and personalized 7-day roadmaps.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• To construct a gamified virtual economy with XP level curves, ByteCoins currency, daily streaks, cosmetic customizers, and celebratory chimes.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• To build a dedicated Faculty Portal enabling targeted coursework publishing, AI rubric auto-grading, and campus bulletin broadcasting.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• To implement strict session-based authentication preventing bypasses via cryptographic cookies and role guards (@faculty_required).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42255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4AF37"/>
                </a:solidFill>
                <a:latin typeface="Arial"/>
              </a:defRPr>
            </a:pPr>
            <a:r>
              <a:t>SYSTEM BOUNDARIES &amp; SCOPE</a:t>
            </a:r>
          </a:p>
          <a:p>
            <a:pPr>
              <a:defRPr sz="1150" b="1">
                <a:solidFill>
                  <a:srgbClr val="38BDF8"/>
                </a:solidFill>
                <a:latin typeface="Arial"/>
              </a:defRPr>
            </a:pPr>
            <a:r>
              <a:t>Included in Current Release (v2.4)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Full-Stack Web Architecture on Flask 3.1 and SQLite3 database.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- 90-Day multi-month calendar with viewport floating tooltips.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Interactive AI Code Arena (Roast, Turbo Optimize, Edge Cases).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FAANG Mock Interview Challenge Simulator with XP rewards.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Coursework submission queue with file uploads and faculty grading.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Campus circular broadcasting with priority urgency alerts.</a:t>
            </a:r>
          </a:p>
          <a:p>
            <a:pPr>
              <a:defRPr sz="1150" b="1">
                <a:solidFill>
                  <a:srgbClr val="38BDF8"/>
                </a:solidFill>
                <a:latin typeface="Arial"/>
              </a:defRPr>
            </a:pPr>
            <a:r>
              <a:t>Not Included / Future Scope Limitations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Native Android / iOS mobile applications (currently responsive web).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Automated plagiarism AST parsing against external global repos.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  - Multi-university federated single sign-on clustering.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5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03 COMPARATIVE ANALYSIS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COMPARATIVE ANALYSIS: EXISTING vs PROPOSED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327855"/>
              </a:tblGrid>
              <a:tr h="5486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System Attribute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Existing Traditional Approach</a:t>
                      </a:r>
                    </a:p>
                  </a:txBody>
                  <a:tcPr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NexusEdu AI Proposed System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Developer Tracking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Scattered profiles across LeetCode, GitHub, HackerRank; no holistic correlation.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Unified 90-Day dual synchronized activity heatmap with real-time day inspector.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Placement Analytics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Subjective assessments, manual resume reviews, unquantified placement readiness.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Multimodal AI Readiness Index (0-100%) synthesizing DSA, Git commits &amp; coursework.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Student Engagement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Static assignment submission deadlines, low motivation, isolated coding practice.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Gamified ByteCoin economy, progressive leveling (1-50), daily streaks &amp; shop customizers.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Faculty Workload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Manual grading queues, paper/spreadsheet evaluations, zero rubric scaffolding.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AI-assisted assignment drafting, automated rubric suggestions, 1-click evaluation.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Security &amp; Access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Unsecured cookies, client-side auth bypasses, mixed role permissions.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Strict cryptographic HTTPOnly session cookies, role guards (@faculty_required, @student_required).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30352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Literature Gap Summary: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While traditional LMS solutions (e.g. Moodle, Canvas) manage coursework files and coding portals (LeetCode, HackerRank) track competitive problem solving, no existing commercial or open-source tool unifies academic submissions with verified external Git commits and algorithmic growth under a single gamified placement readiness intelligence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6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04 TECHNOLOGY STACK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FULL-STACK TECHNOLOGY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14600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  <a:latin typeface="Arial"/>
              </a:defRPr>
            </a:pPr>
            <a:r>
              <a:t>FRONTEND TIER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HTML5 &amp; Modern CSS3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Semantic layouts with custom CSS properties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Tailwind CSS Engine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Glassmorphism &amp; Cyberpunk dark design tokens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Vanilla JavaScript ES6+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Lightweight DOM manipulation without heavy frameworks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Chart.js &amp; Canvas Visuals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Doughnut charts, progress bars &amp; confetti particles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Web Audio API Chimes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Synthetic procedural audio feedback on level-ups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737360"/>
            <a:ext cx="2514600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4AF37"/>
                </a:solidFill>
                <a:latin typeface="Arial"/>
              </a:defRPr>
            </a:pPr>
            <a:r>
              <a:t>BACKEND TIER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Python 3.13 Runtime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Fast, modern execution environment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Flask 3.1.0 Framework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Lightweight, decoupled WSGI micro-framework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RESTful JSON APIs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Clean endpoint routing across 20+ specialized routes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Werkzeug Security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Cryptographic password hashing (Scrypt &amp; SHA256)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Session Access Guards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Decorator-driven RBAC (@login_required, @faculty_required)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737360"/>
            <a:ext cx="2514600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4D399"/>
                </a:solidFill>
                <a:latin typeface="Arial"/>
              </a:defRPr>
            </a:pPr>
            <a:r>
              <a:t>DATABASE &amp; ORM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SQLite3 Relational DB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Serverless, zero-configuration ACID storage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Normalized Schema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6 relational tables with foreign key cascades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Row-Factory Mapping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Fast dictionary-style record serialization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Transactional Safety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Atomic rollback on submission &amp; store purchases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Automated Migrations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Schema initialization script ensuring zero preloaded dummy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737360"/>
            <a:ext cx="2514600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472B6"/>
                </a:solidFill>
                <a:latin typeface="Arial"/>
              </a:defRPr>
            </a:pPr>
            <a:r>
              <a:t>AI &amp; CLOUD PLATFORM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Google Gemini 2.0 Flash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Multimodal intelligence API for real-time analysis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google-genai SDK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Official modern SDK with fast model fallbacks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Local Reasoning Engine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Pattern-aware AST analysis for code review &amp; Big-O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Firebase Client Auth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Google OAuth 2.0 popup integration &amp; ID tokens</a:t>
            </a:r>
          </a:p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• Local Session Bridge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  Seamless authentication syncing between Firebase &amp; Flask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7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05 RESOURCE REQUIREMENTS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HARDWARE &amp; SOFTWARE SPECIFICATIONS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1. Hardware Specifications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52120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920240"/>
                <a:gridCol w="1920240"/>
              </a:tblGrid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Minimum Requirement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Recommended Spec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Processor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Intel Core i3 / AMD Ryzen 3 (2.0 GHz)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Intel Core i5/i7 (11th Gen+) or Ryzen 5+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Memory (RAM)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 GB DDR4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 GB / 16 GB DDR4/DDR5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Disk Storage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256 GB HDD / SSD (500 MB free)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512 GB NVMe SSD for fast compilation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Network Interface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Standard Wi-Fi / LAN (2 Mbps)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High-Speed Broadband (10+ Mbps)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645920"/>
            <a:ext cx="52422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2. Software Tools &amp; Versions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2011680"/>
          <a:ext cx="52422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1767535"/>
              </a:tblGrid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0F19"/>
                          </a:solidFill>
                          <a:latin typeface="Arial"/>
                        </a:defRPr>
                      </a:pPr>
                      <a:r>
                        <a:t>Software / Tool</a:t>
                      </a:r>
                    </a:p>
                  </a:txBody>
                  <a:tcPr>
                    <a:solidFill>
                      <a:srgbClr val="D4AF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0F19"/>
                          </a:solidFill>
                          <a:latin typeface="Arial"/>
                        </a:defRPr>
                      </a:pPr>
                      <a:r>
                        <a:t>Version Tested</a:t>
                      </a:r>
                    </a:p>
                  </a:txBody>
                  <a:tcPr>
                    <a:solidFill>
                      <a:srgbClr val="D4AF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0F19"/>
                          </a:solidFill>
                          <a:latin typeface="Arial"/>
                        </a:defRPr>
                      </a:pPr>
                      <a:r>
                        <a:t>Role in Project</a:t>
                      </a:r>
                    </a:p>
                  </a:txBody>
                  <a:tcPr>
                    <a:solidFill>
                      <a:srgbClr val="D4AF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Operating System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Windows 11 (24H2) / Ubuntu 24.04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Development Host 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Python Runtime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Python 3.13.0 (64-bit)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Backend Runtime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Flask Framework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Flask 3.1.0 + Werkzeug 3.1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Web Server &amp; REST APIs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Database Engine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SQLite3 (Relational ACID)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Structured Data Persistence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AI / GenAI SDK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google-genai 1.0+ (Gemini)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Multimodal Placement AI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8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06 SYSTEM ARCHITECTURE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SYSTEM DESIGN &amp; 3-TIER ARCHITECTURE</a:t>
            </a:r>
          </a:p>
        </p:txBody>
      </p:sp>
      <p:pic>
        <p:nvPicPr>
          <p:cNvPr id="6" name="Picture 5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583680" cy="34235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737360"/>
            <a:ext cx="3870655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  <a:latin typeface="Arial"/>
              </a:defRPr>
            </a:pPr>
            <a:r>
              <a:t>KEY ARCHITECTURAL HIGHLIGHTS</a:t>
            </a:r>
          </a:p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• Presentation Tier Decoupling: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Client interacts solely through asynchronous JSON fetch calls. Zero full-page reloads for gamification, shop, and calendar updates.</a:t>
            </a:r>
          </a:p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• Layered Role-Based Access: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Route protection enforces separation of privileges: Students cannot view the grading queue; Faculty cannot bypass administrative dashboards.</a:t>
            </a:r>
          </a:p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• Dual-Engine AI Redundancy: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Integrates Google Gemini 2.0 Flash for cloud reasoning with an AST-driven local heuristic engine when offline or network-constrained.</a:t>
            </a:r>
          </a:p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• Normalized Relational Persistence: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ACID transactional guarantees prevent corrupted balances when purchasing items in the ByteCoins cosmetic shop.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9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07 METHODOLOGY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AGILE METHODOLOGY &amp; SPRINT MILESTONES</a:t>
            </a:r>
          </a:p>
        </p:txBody>
      </p:sp>
      <p:pic>
        <p:nvPicPr>
          <p:cNvPr id="6" name="Picture 5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583680" cy="2962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737360"/>
            <a:ext cx="3870655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4AF37"/>
                </a:solidFill>
                <a:latin typeface="Arial"/>
              </a:defRPr>
            </a:pPr>
            <a:r>
              <a:t>AGILE ITERATIVE MODEL</a:t>
            </a:r>
          </a:p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• Sprint 1: Inception &amp; SRS: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Gathered user requirements from 2nd-year CS students and faculty members. Finalized data dictionary and UI wireframes.</a:t>
            </a:r>
          </a:p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• Sprint 2: Auth &amp; Database Core: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Implemented SQLite relational schema and strict session-based authentication with role-based routing.</a:t>
            </a:r>
          </a:p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• Sprint 3: Dual Matrix Heatmap: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Engineered 90-day multi-month calendar syncing LeetCode problems and GitHub commits into unified date tiles.</a:t>
            </a:r>
          </a:p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• Sprint 4: Multimodal AI &amp; Gamification: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Integrated Google Gemini 2.0 Flash, AI Code Arena, FAANG Mock Interviewer, and the ByteCoins virtual shop.</a:t>
            </a:r>
          </a:p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• Sprint 5: Validation &amp; Deployment: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Conducted automated test suites, fixed HTML attribute overflows, and packaged pitch-ready deliverables.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10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08 MODULES &amp; FEATURES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CORE SYSTEM MODULES &amp; DELIVERABLES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38BDF8"/>
                </a:solidFill>
                <a:latin typeface="Arial"/>
              </a:defRPr>
            </a:pPr>
            <a:r>
              <a:t>MODULE 01: User Authentication &amp; RBAC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Dual Firebase Google OAuth &amp; local Scrypt fallback.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Cryptographic session cookies with role guards.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Demo 1-click bypasses permanently blocked.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5212080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D4AF37"/>
                </a:solidFill>
                <a:latin typeface="Arial"/>
              </a:defRPr>
            </a:pPr>
            <a:r>
              <a:t>MODULE 02: Unified 90-Day Activity Matrix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Synchronizes LeetCode solves (⚡) and Git commits (🐙).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7-column calendar with month navigator tabs.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Global floating viewport tooltips (never clipped).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5212080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F472B6"/>
                </a:solidFill>
                <a:latin typeface="Arial"/>
              </a:defRPr>
            </a:pPr>
            <a:r>
              <a:t>MODULE 03: AI Diagnostic Engine &amp; Arena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Placement readiness score (0-100%) across DSA, Git &amp; OS.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AI Code Arena: Roast, Turbo Optimize &amp; Edge Cases.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FAANG Mock Interview Challenge Simulator.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34D399"/>
                </a:solidFill>
                <a:latin typeface="Arial"/>
              </a:defRPr>
            </a:pPr>
            <a:r>
              <a:t>MODULE 04: Gamification &amp; ByteCoins Economy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Level 1 to 50 progression curve with verified XP.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Daily streaks with claim cooldowns &amp; ByteCoins payouts.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Cosmetic shop: Cyberpunk avatars, titles, &amp; banners.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337560"/>
            <a:ext cx="5212080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38BDF8"/>
                </a:solidFill>
                <a:latin typeface="Arial"/>
              </a:defRPr>
            </a:pPr>
            <a:r>
              <a:t>MODULE 05: Faculty Management Portal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Coursework publishing with section targeting.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AI-assisted assignment drafting with starter code.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Student submission review queue with rubric grading.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937760"/>
            <a:ext cx="5212080" cy="14630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D4AF37"/>
                </a:solidFill>
                <a:latin typeface="Arial"/>
              </a:defRPr>
            </a:pPr>
            <a:r>
              <a:t>MODULE 06: Campus Bulletin &amp; Repository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Official notice broadcasts with category tags &amp; urgency.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Course syllabus, lab manuals &amp; lecture slide downloads.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• Cohort-wide student leaderboard rankings.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11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09 IMPLEMENTATION &amp; RESULTS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SYSTEM IMPLEMENTATION &amp; WORKING SCREENS</a:t>
            </a:r>
          </a:p>
        </p:txBody>
      </p:sp>
      <p:pic>
        <p:nvPicPr>
          <p:cNvPr id="6" name="Picture 5" descr="ui_show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7498079" cy="43488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37360"/>
            <a:ext cx="3047695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VERIFIED DEPLOYMENT METRICS</a:t>
            </a:r>
          </a:p>
          <a:p>
            <a:pPr>
              <a:defRPr sz="950" b="1">
                <a:solidFill>
                  <a:srgbClr val="D4AF37"/>
                </a:solidFill>
                <a:latin typeface="Arial"/>
              </a:defRPr>
            </a:pPr>
            <a:r>
              <a:t>• Local Server Status:</a:t>
            </a:r>
          </a:p>
          <a:p>
            <a:pPr>
              <a:defRPr sz="850">
                <a:solidFill>
                  <a:srgbClr val="FFFFFF"/>
                </a:solidFill>
                <a:latin typeface="Arial"/>
              </a:defRPr>
            </a:pPr>
            <a:r>
              <a:t>ACTIVE on http://127.0.0.1:5000</a:t>
            </a:r>
          </a:p>
          <a:p>
            <a:pPr>
              <a:defRPr sz="950" b="1">
                <a:solidFill>
                  <a:srgbClr val="D4AF37"/>
                </a:solidFill>
                <a:latin typeface="Arial"/>
              </a:defRPr>
            </a:pPr>
            <a:r>
              <a:t>• Multi-Month Calendar:</a:t>
            </a:r>
          </a:p>
          <a:p>
            <a:pPr>
              <a:defRPr sz="850">
                <a:solidFill>
                  <a:srgbClr val="D4AF37"/>
                </a:solidFill>
                <a:latin typeface="Arial"/>
              </a:defRPr>
            </a:pPr>
            <a:r>
              <a:t>90 Days Active (Aug-Oct 2026)</a:t>
            </a:r>
          </a:p>
          <a:p>
            <a:pPr>
              <a:defRPr sz="950" b="1">
                <a:solidFill>
                  <a:srgbClr val="D4AF37"/>
                </a:solidFill>
                <a:latin typeface="Arial"/>
              </a:defRPr>
            </a:pPr>
            <a:r>
              <a:t>• AI Engine Response:</a:t>
            </a:r>
          </a:p>
          <a:p>
            <a:pPr>
              <a:defRPr sz="850">
                <a:solidFill>
                  <a:srgbClr val="34D399"/>
                </a:solidFill>
                <a:latin typeface="Arial"/>
              </a:defRPr>
            </a:pPr>
            <a:r>
              <a:t>&lt; 250ms Local AST / Gemini 2.0</a:t>
            </a:r>
          </a:p>
          <a:p>
            <a:pPr>
              <a:defRPr sz="950" b="1">
                <a:solidFill>
                  <a:srgbClr val="D4AF37"/>
                </a:solidFill>
                <a:latin typeface="Arial"/>
              </a:defRPr>
            </a:pPr>
            <a:r>
              <a:t>• Preloaded Data State:</a:t>
            </a:r>
          </a:p>
          <a:p>
            <a:pPr>
              <a:defRPr sz="850">
                <a:solidFill>
                  <a:srgbClr val="FFFFFF"/>
                </a:solidFill>
                <a:latin typeface="Arial"/>
              </a:defRPr>
            </a:pPr>
            <a:r>
              <a:t>Clean baseline: 0 fake records</a:t>
            </a:r>
          </a:p>
          <a:p>
            <a:pPr>
              <a:defRPr sz="950" b="1">
                <a:solidFill>
                  <a:srgbClr val="D4AF37"/>
                </a:solidFill>
                <a:latin typeface="Arial"/>
              </a:defRPr>
            </a:pPr>
            <a:r>
              <a:t>• Verified Accounts:</a:t>
            </a:r>
          </a:p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Faculty (ID: faculty@12345)</a:t>
            </a:r>
            <a:br/>
            <a:r>
              <a:t>Student (funwithcode8630@...)</a:t>
            </a:r>
          </a:p>
          <a:p>
            <a:pPr>
              <a:defRPr sz="950" b="1">
                <a:solidFill>
                  <a:srgbClr val="D4AF37"/>
                </a:solidFill>
                <a:latin typeface="Arial"/>
              </a:defRPr>
            </a:pPr>
            <a:r>
              <a:t>• GitHub Repository:</a:t>
            </a:r>
          </a:p>
          <a:p>
            <a:pPr>
              <a:defRPr sz="850">
                <a:solidFill>
                  <a:srgbClr val="38BDF8"/>
                </a:solidFill>
                <a:latin typeface="Arial"/>
              </a:defRPr>
            </a:pPr>
            <a:r>
              <a:t>https://github.com/CodingWithAman1/NexusEdu-AI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12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10 TESTING &amp; VALIDATION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SYSTEM TESTING &amp; VERIFICATION MATRIX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2926080"/>
                <a:gridCol w="3504895"/>
                <a:gridCol w="1097280"/>
              </a:tblGrid>
              <a:tr h="5878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ID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Scenario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Input Parameters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Expected vs Actual Result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TC-01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Authentication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email: funwithcode8630@gmail.com, pass: password123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Session cookie issued; student portal opens. Actual: HTTP 200, role authenticated.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ADE80"/>
                          </a:solidFill>
                          <a:latin typeface="Arial"/>
                        </a:defRPr>
                      </a:pPr>
                      <a:r>
                        <a:t>PASS 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TC-02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Session Bypass Guard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Access /api/assignments with unauthenticated session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Access denied with HTTP 401/403. Actual: Blocked by @login_required decorator.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ADE80"/>
                          </a:solidFill>
                          <a:latin typeface="Arial"/>
                        </a:defRPr>
                      </a:pPr>
                      <a:r>
                        <a:t>PASS ✓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TC-03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Dual Calendar Multi-Month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GET /api/stats/unified-calendar (90 days sync)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90 calendar days populated across 3 months. Actual: 90 days, 0 broken HTML quotes.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ADE80"/>
                          </a:solidFill>
                          <a:latin typeface="Arial"/>
                        </a:defRPr>
                      </a:pPr>
                      <a:r>
                        <a:t>PASS 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TC-04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AI Code Arena Big-O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POST /api/ai/code-arena with recursive fib(n)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Detects O(2^N) exponential time; rewrites to O(N). Actual: O(2^N)-&gt;O(N) generated.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ADE80"/>
                          </a:solidFill>
                          <a:latin typeface="Arial"/>
                        </a:defRPr>
                      </a:pPr>
                      <a:r>
                        <a:t>PASS ✓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TC-05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FAANG Mock Interview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POST /api/ai/mock-interview (Google DP round)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Evaluates complexity &amp; invariants; awards XP &amp; coins. Actual: LEANING HIRE (+80 XP).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ADE80"/>
                          </a:solidFill>
                          <a:latin typeface="Arial"/>
                        </a:defRPr>
                      </a:pPr>
                      <a:r>
                        <a:t>PASS 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TC-06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Faculty Access Separation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user accessing /faculty portal endpoint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Access restricted; redirect to student portal. Actual: HTTP 403 Forbidden enforced.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ADE80"/>
                          </a:solidFill>
                          <a:latin typeface="Arial"/>
                        </a:defRPr>
                      </a:pPr>
                      <a:r>
                        <a:t>PASS ✓</a:t>
                      </a:r>
                    </a:p>
                  </a:txBody>
                  <a:tcPr>
                    <a:solidFill>
                      <a:srgbClr val="1A243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4360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Testing Methodology: Multi-tier unit testing with Python test harness (scratch/test_ai_suite.py), functional penetration testing, security session validation, and cross-browser execution on Chromium (Chrome/Edge).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13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11 CONCLUSION &amp; ROADMAP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CONCLUSION &amp; FUTURE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303520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1. PROJECT CONCLUSION</a:t>
            </a:r>
          </a:p>
          <a:p>
            <a:pPr>
              <a:defRPr sz="1050" b="1">
                <a:solidFill>
                  <a:srgbClr val="D4AF37"/>
                </a:solidFill>
                <a:latin typeface="Arial"/>
              </a:defRPr>
            </a:pPr>
            <a:r>
              <a:t>• Successful Technical Delivery: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Constructed an end-to-end full-stack campus platform connecting university academics with live competitive programming telemetry.</a:t>
            </a:r>
          </a:p>
          <a:p>
            <a:pPr>
              <a:defRPr sz="1050" b="1">
                <a:solidFill>
                  <a:srgbClr val="D4AF37"/>
                </a:solidFill>
                <a:latin typeface="Arial"/>
              </a:defRPr>
            </a:pPr>
            <a:r>
              <a:t>• All Objectives Satisfied: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Delivered 90-day dual synchronization, multimodal AI diagnostic engine, gamified ByteCoin economy, and faculty evaluation workflow.</a:t>
            </a:r>
          </a:p>
          <a:p>
            <a:pPr>
              <a:defRPr sz="1050" b="1">
                <a:solidFill>
                  <a:srgbClr val="D4AF37"/>
                </a:solidFill>
                <a:latin typeface="Arial"/>
              </a:defRPr>
            </a:pPr>
            <a:r>
              <a:t>• Security &amp; Documentation Hardening: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Eliminated demo bypass vulnerabilities, reinforced strict session guards, and cleaned all dummy database entries for production baseline.</a:t>
            </a:r>
          </a:p>
          <a:p>
            <a:pPr>
              <a:defRPr sz="1050" b="1">
                <a:solidFill>
                  <a:srgbClr val="D4AF37"/>
                </a:solidFill>
                <a:latin typeface="Arial"/>
              </a:defRPr>
            </a:pPr>
            <a:r>
              <a:t>• Key Team Learning: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Acquired practical expertise in full-stack REST API development, SQLite normalization, session-based access control, and resilient AI fallback architectures.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42255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4AF37"/>
                </a:solidFill>
                <a:latin typeface="Arial"/>
              </a:defRPr>
            </a:pPr>
            <a:r>
              <a:t>2. FUTURE SCOPE &amp; ENHANCEMENTS</a:t>
            </a:r>
          </a:p>
          <a:p>
            <a:pPr>
              <a:defRPr sz="1050" b="1">
                <a:solidFill>
                  <a:srgbClr val="38BDF8"/>
                </a:solidFill>
                <a:latin typeface="Arial"/>
              </a:defRPr>
            </a:pPr>
            <a:r>
              <a:t>• Mobile Application (PWA / React Native):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Develop cross-platform iOS &amp; Android clients delivering push notifications for assignment deadlines and streak alerts.</a:t>
            </a:r>
          </a:p>
          <a:p>
            <a:pPr>
              <a:defRPr sz="1050" b="1">
                <a:solidFill>
                  <a:srgbClr val="38BDF8"/>
                </a:solidFill>
                <a:latin typeface="Arial"/>
              </a:defRPr>
            </a:pPr>
            <a:r>
              <a:t>• Cloud Orchestration &amp; Docker Containerization: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Package the Flask application, Gunicorn WSGI, and SQLite database into Docker containers for seamless Kubernetes deployment.</a:t>
            </a:r>
          </a:p>
          <a:p>
            <a:pPr>
              <a:defRPr sz="1050" b="1">
                <a:solidFill>
                  <a:srgbClr val="38BDF8"/>
                </a:solidFill>
                <a:latin typeface="Arial"/>
              </a:defRPr>
            </a:pPr>
            <a:r>
              <a:t>• Automated Plagiarism Detection (AST):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Incorporate Abstract Syntax Tree (AST) code fingerprinting to detect unauthorized collaboration on student coursework.</a:t>
            </a:r>
          </a:p>
          <a:p>
            <a:pPr>
              <a:defRPr sz="1050" b="1">
                <a:solidFill>
                  <a:srgbClr val="38BDF8"/>
                </a:solidFill>
                <a:latin typeface="Arial"/>
              </a:defRPr>
            </a:pPr>
            <a:r>
              <a:t>• ML-Powered Placement Probability Model:</a:t>
            </a:r>
          </a:p>
          <a:p>
            <a:pPr>
              <a:defRPr sz="950">
                <a:solidFill>
                  <a:srgbClr val="FFFFFF"/>
                </a:solidFill>
                <a:latin typeface="Arial"/>
              </a:defRPr>
            </a:pPr>
            <a:r>
              <a:t>Train a supervised regression model predicting campus placement probability based on student GPA, LeetCode rank, and GitHub commit velocity.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Department of Computer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Arial"/>
              </a:defRPr>
            </a:pPr>
            <a:r>
              <a:t>Slide 14 of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10728655" cy="2743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12 REFERENCES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REFERENCES &amp; BIBLIOGRAPHY (APA STYLE)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28655" cy="466344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4AF37"/>
                </a:solidFill>
                <a:latin typeface="Arial"/>
              </a:defRPr>
            </a:pPr>
            <a:r>
              <a:t>CITED ACADEMIC &amp; TECHNICAL SOURCES: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[1] Grinberg, M. (2018). Flask Web Development: Developing Web Applications with Python (2nd ed.). O'Reilly Media.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[2] Google Cloud. (2026). Gemini API Documentation and Model Architecture. Google Developers. https://ai.google.dev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[3] MDN Web Docs. (2026). HTTP Cookies and Secure Session Management. Mozilla Corporation. https://developer.mozilla.org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[4] Cormen, T. H., Leiserson, C. E., Rivest, R. L., &amp; Stein, C. (2022). Introduction to Algorithms (4th ed.). MIT Press.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[5] SQLite Development Team. (2026). SQLite Database Engine Architecture &amp; Transaction Safety. https://www.sqlite.org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[6] Tailwind Labs. (2026). Tailwind CSS: Utility-First CSS Framework. https://tailwindcss.com</a:t>
            </a:r>
          </a:p>
          <a:p>
            <a:pPr>
              <a:defRPr sz="1050">
                <a:solidFill>
                  <a:srgbClr val="FFFFFF"/>
                </a:solidFill>
                <a:latin typeface="Arial"/>
              </a:defRPr>
            </a:pPr>
            <a:r>
              <a:t>[7] Firebase. (2026). Firebase Authentication and Identity Management. Google. https://firebase.google.com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670" y="914400"/>
            <a:ext cx="2377440" cy="16642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8BDF8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defRPr sz="1800">
                <a:solidFill>
                  <a:srgbClr val="D4AF37"/>
                </a:solidFill>
                <a:latin typeface="Arial"/>
              </a:defRPr>
            </a:pPr>
            <a:r>
              <a:t>Any Questions or Suggestions?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4389120"/>
            <a:ext cx="7619695" cy="164592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  <a:latin typeface="Arial"/>
              </a:defRPr>
            </a:pPr>
            <a:r>
              <a:t>PROJECT REPOSITORY &amp; LIVE DEMO</a:t>
            </a:r>
          </a:p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GitHub: https://github.com/CodingWithAman1/NexusEdu-AI</a:t>
            </a:r>
          </a:p>
          <a:p>
            <a:pPr algn="ctr">
              <a:defRPr sz="1100">
                <a:solidFill>
                  <a:srgbClr val="D4AF37"/>
                </a:solidFill>
                <a:latin typeface="Arial"/>
              </a:defRPr>
            </a:pPr>
            <a:r>
              <a:t>Local Portal: http://localhost:5000  |  Email: funwithcode8630@gmail.com</a:t>
            </a:r>
          </a:p>
          <a:p>
            <a:pPr algn="ctr">
              <a:defRPr sz="1000">
                <a:solidFill>
                  <a:srgbClr val="94A3B8"/>
                </a:solidFill>
                <a:latin typeface="Arial"/>
              </a:defRPr>
            </a:pPr>
            <a:r>
              <a:t>GL Bajaj Institute of Technology &amp; Management | Session 2026-2027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